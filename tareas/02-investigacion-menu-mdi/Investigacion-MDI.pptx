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5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6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2.png"/><Relationship Id="rId7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550" y="3284190"/>
            <a:ext cx="6438900" cy="18859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487" y="5551140"/>
            <a:ext cx="5153025" cy="476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85511" y="830609"/>
            <a:ext cx="7820977" cy="1462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  <a:defRPr/>
            </a:pPr>
            <a:r>
              <a:rPr sz="4800" b="1" i="0" u="none">
                <a:solidFill>
                  <a:srgbClr val="FFFFFF"/>
                </a:solidFill>
                <a:latin typeface="Montserrat"/>
              </a:rPr>
              <a:t>Formulario Contenedor</a:t>
            </a:r>
            <a:r>
              <a:t>
</a:t>
            </a:r>
            <a:r>
              <a:rPr sz="4800" b="1" i="0" u="none">
                <a:solidFill>
                  <a:srgbClr val="FFFFFF"/>
                </a:solidFill>
                <a:latin typeface="Montserrat"/>
              </a:rPr>
              <a:t> (Menú MDI)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478" y="2484090"/>
            <a:ext cx="835104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38BDF8"/>
                </a:solidFill>
                <a:latin typeface="Montserrat Medium"/>
              </a:rPr>
              <a:t>Investigación aplicada al Sistema de Ventas en Java Swing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2325" y="3579465"/>
            <a:ext cx="238125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4A3B8"/>
                </a:solidFill>
                <a:latin typeface="Inter SemiBold"/>
              </a:rPr>
              <a:t>Autor:</a:t>
            </a:r>
            <a:r>
              <a:rPr sz="1500" b="0" i="0" u="none">
                <a:solidFill>
                  <a:srgbClr val="F8FAFC"/>
                </a:solidFill>
                <a:latin typeface="Inter"/>
              </a:rPr>
              <a:t> Josue Zetino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5075" y="3579465"/>
            <a:ext cx="2514600" cy="28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1500" dirty="0" err="1">
                <a:solidFill>
                  <a:srgbClr val="94A3B8"/>
                </a:solidFill>
                <a:latin typeface="Inter SemiBold"/>
              </a:rPr>
              <a:t>Curso</a:t>
            </a:r>
            <a:r>
              <a:rPr sz="1500" b="0" i="0" u="none" dirty="0">
                <a:solidFill>
                  <a:srgbClr val="94A3B8"/>
                </a:solidFill>
                <a:latin typeface="Inter SemiBold"/>
              </a:rPr>
              <a:t>:</a:t>
            </a:r>
            <a:r>
              <a:rPr sz="1500" b="0" i="0" u="none" dirty="0">
                <a:solidFill>
                  <a:srgbClr val="F8FAFC"/>
                </a:solidFill>
                <a:latin typeface="Inter"/>
              </a:rPr>
              <a:t> </a:t>
            </a:r>
            <a:r>
              <a:rPr lang="en-US" sz="1500" b="0" i="0" u="none" dirty="0" err="1">
                <a:solidFill>
                  <a:srgbClr val="F8FAFC"/>
                </a:solidFill>
                <a:latin typeface="Inter"/>
              </a:rPr>
              <a:t>Programació</a:t>
            </a:r>
            <a:r>
              <a:rPr lang="en-US" sz="1500" dirty="0" err="1">
                <a:solidFill>
                  <a:srgbClr val="F8FAFC"/>
                </a:solidFill>
                <a:latin typeface="Inter"/>
              </a:rPr>
              <a:t>n</a:t>
            </a:r>
            <a:r>
              <a:rPr lang="en-US" sz="1500" dirty="0">
                <a:solidFill>
                  <a:srgbClr val="F8FAFC"/>
                </a:solidFill>
                <a:latin typeface="Inter"/>
              </a:rPr>
              <a:t> 2</a:t>
            </a:r>
            <a:endParaRPr sz="1500" b="0" i="0" u="none" dirty="0">
              <a:solidFill>
                <a:srgbClr val="F8FAFC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62325" y="4074765"/>
            <a:ext cx="2381250" cy="589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 err="1">
                <a:solidFill>
                  <a:srgbClr val="94A3B8"/>
                </a:solidFill>
                <a:latin typeface="Inter SemiBold"/>
              </a:rPr>
              <a:t>Fecha</a:t>
            </a:r>
            <a:r>
              <a:rPr sz="1500" b="0" i="0" u="none" dirty="0">
                <a:solidFill>
                  <a:srgbClr val="94A3B8"/>
                </a:solidFill>
                <a:latin typeface="Inter SemiBold"/>
              </a:rPr>
              <a:t>:</a:t>
            </a:r>
            <a:r>
              <a:rPr lang="en-US" sz="1500" dirty="0">
                <a:solidFill>
                  <a:schemeClr val="bg1"/>
                </a:solidFill>
                <a:latin typeface="Inter SemiBold"/>
              </a:rPr>
              <a:t> 07 Agosto 2026</a:t>
            </a:r>
            <a:r>
              <a:rPr sz="1500" b="0" i="0" u="none" dirty="0">
                <a:solidFill>
                  <a:srgbClr val="F8FAFC"/>
                </a:solidFill>
                <a:latin typeface="Inter"/>
              </a:rPr>
              <a:t> ____________________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2325" y="4570065"/>
            <a:ext cx="5467350" cy="28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 err="1">
                <a:solidFill>
                  <a:srgbClr val="94A3B8"/>
                </a:solidFill>
                <a:latin typeface="Inter SemiBold"/>
              </a:rPr>
              <a:t>Institución</a:t>
            </a:r>
            <a:r>
              <a:rPr sz="1500" b="0" i="0" u="none" dirty="0">
                <a:solidFill>
                  <a:srgbClr val="94A3B8"/>
                </a:solidFill>
                <a:latin typeface="Inter SemiBold"/>
              </a:rPr>
              <a:t>:</a:t>
            </a:r>
            <a:r>
              <a:rPr sz="1500" b="0" i="0" u="none" dirty="0">
                <a:solidFill>
                  <a:srgbClr val="F8FAFC"/>
                </a:solidFill>
                <a:latin typeface="Inter"/>
              </a:rPr>
              <a:t> Universidad </a:t>
            </a:r>
            <a:r>
              <a:rPr lang="es-GT" sz="1500" dirty="0">
                <a:solidFill>
                  <a:srgbClr val="F8FAFC"/>
                </a:solidFill>
                <a:latin typeface="Inter"/>
              </a:rPr>
              <a:t>Mariano Gálvez</a:t>
            </a:r>
            <a:endParaRPr sz="1500" b="0" i="0" u="none" dirty="0">
              <a:solidFill>
                <a:srgbClr val="F8FAFC"/>
              </a:solidFill>
              <a:latin typeface="Inter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7612" y="5703540"/>
            <a:ext cx="161925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125938"/>
            <a:ext cx="10668000" cy="990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1125" y="571500"/>
            <a:ext cx="10551318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¿Qué es un formulario contenedor (MDI)?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19125"/>
            <a:ext cx="476250" cy="419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1589186"/>
            <a:ext cx="10668000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Inter"/>
              </a:rPr>
              <a:t>MDI (Multiple Document Interface)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es una arquitectura de interfaz de usuario donde una ventana principal (el contenedor) aloja dentro de sí varias ventanas hijas, en lugar de abrirlas como ventanas independientes del sistema operativo.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25200" y="6372225"/>
            <a:ext cx="304800" cy="247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5375" y="3023294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Las ventanas hijas se mueven, minimizan, maximizan y cierran estrictamente </a:t>
            </a:r>
            <a:r>
              <a:rPr sz="1650" b="1" i="0" u="none">
                <a:solidFill>
                  <a:srgbClr val="F8FAFC"/>
                </a:solidFill>
                <a:latin typeface="Inter"/>
              </a:rPr>
              <a:t>dentro de los límites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del contenedor principal.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3884116"/>
            <a:ext cx="10334625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Una sola barra de menú controla todas las ventanas abiertas, optimizando el espacio.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" y="4409777"/>
            <a:ext cx="10334625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Ejemplos clásicos: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Microsoft Excel antiguo, IDEs como NetBeans o Eclipse.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5316438"/>
            <a:ext cx="102489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Inter"/>
              </a:rPr>
              <a:t>En </a:t>
            </a:r>
            <a:r>
              <a:rPr sz="1500" b="1" i="0" u="none">
                <a:solidFill>
                  <a:srgbClr val="CBD5E1"/>
                </a:solidFill>
                <a:latin typeface="Inter"/>
              </a:rPr>
              <a:t>Java Swing</a:t>
            </a:r>
            <a:r>
              <a:rPr sz="1500" b="0" i="0" u="none">
                <a:solidFill>
                  <a:srgbClr val="CBD5E1"/>
                </a:solidFill>
                <a:latin typeface="Inter"/>
              </a:rPr>
              <a:t>, esta arquitectura se construye acoplando tres componentes principales: un JFrame (padre), un JDesktopPane (escritorio virtual) y múltiples JInternalFrame (ventanas hijas).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3075682"/>
            <a:ext cx="152400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3936503"/>
            <a:ext cx="152400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4462164"/>
            <a:ext cx="152400" cy="1809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860178"/>
            <a:ext cx="10668000" cy="2143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193803"/>
            <a:ext cx="10668000" cy="990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2869703"/>
            <a:ext cx="10648950" cy="3619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81125" y="571500"/>
            <a:ext cx="10551318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¿Qué es un JDesktopPane?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19125"/>
            <a:ext cx="476250" cy="419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1521321"/>
            <a:ext cx="10668000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Es un contenedor especializado que funciona como el </a:t>
            </a:r>
            <a:r>
              <a:rPr sz="1650" b="1" i="0" u="none">
                <a:solidFill>
                  <a:srgbClr val="CBD5E1"/>
                </a:solidFill>
                <a:latin typeface="Inter"/>
              </a:rPr>
              <a:t>"escritorio" virtual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donde viven las ventanas internas. Gestiona la superposición (capas) de las ventanas y delega comportamientos complejos (como maximizar o minimizar) al DesktopManager.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25200" y="6372225"/>
            <a:ext cx="304800" cy="2476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0600" y="5384303"/>
            <a:ext cx="10248900" cy="609600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CBD5E1"/>
                </a:solidFill>
                <a:latin typeface="Inter"/>
              </a:rPr>
              <a:t>Nota técnica:</a:t>
            </a:r>
            <a:r>
              <a:rPr sz="1500" b="0" i="0" u="none">
                <a:solidFill>
                  <a:srgbClr val="CBD5E1"/>
                </a:solidFill>
                <a:latin typeface="Inter"/>
              </a:rPr>
              <a:t> Para consultar todas las ventanas abiertas en el escritorio, se utiliza el método jDesktopPane.getAllFrames().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38300" y="2979241"/>
            <a:ext cx="104775" cy="1333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5441453"/>
            <a:ext cx="190500" cy="190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62025" y="2988766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33475" y="2988766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304925" y="2988766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716660"/>
            <a:ext cx="10668000" cy="1295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068835"/>
            <a:ext cx="5262562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7437" y="3068835"/>
            <a:ext cx="5262562" cy="609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821310"/>
            <a:ext cx="5262562" cy="609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7437" y="3821310"/>
            <a:ext cx="5262562" cy="609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6238875"/>
            <a:ext cx="106680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30957" y="571500"/>
            <a:ext cx="10708994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¿Qué es un JInternalFrame?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600075"/>
            <a:ext cx="326082" cy="4191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1655564"/>
            <a:ext cx="10668000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Es el equivalente interno de un JFrame. Posee una barra de título, bordes y botones de control de ventana, pero </a:t>
            </a:r>
            <a:r>
              <a:rPr sz="1650" b="1" i="0" u="none">
                <a:solidFill>
                  <a:srgbClr val="CBD5E1"/>
                </a:solidFill>
                <a:latin typeface="Inter"/>
              </a:rPr>
              <a:t>NO es una ventana nativa del sistema operativo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; su existencia está limitada al interior del JDesktopPane.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2659260"/>
            <a:ext cx="112014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Montserrat"/>
              </a:rPr>
              <a:t>Propiedades de configuración típicas: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429375"/>
            <a:ext cx="31487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7134" y="6391275"/>
            <a:ext cx="302865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" y="4907160"/>
            <a:ext cx="102489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CBD5E1"/>
                </a:solidFill>
                <a:latin typeface="Inter"/>
              </a:rPr>
              <a:t>En el Sistema de Ventas:</a:t>
            </a:r>
            <a:r>
              <a:rPr sz="1500" b="0" i="0" u="none">
                <a:solidFill>
                  <a:srgbClr val="CBD5E1"/>
                </a:solidFill>
                <a:latin typeface="Inter"/>
              </a:rPr>
              <a:t> Todos los formularios independientes (FrmFactura, FrmProductos, FrmClientes, etc.) pasaron de heredar de JFrame a JInternalFrame. Como ya no pueden ejecutarse por sí solos, se eliminaron sus métodos main().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2107" y="3251745"/>
            <a:ext cx="1711076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Permite cerrar la ventana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1835" y="3251745"/>
            <a:ext cx="2083593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Permite minimizarla a un icono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6397" y="4004220"/>
            <a:ext cx="2600473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Permite maximizar al tamaño del pane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925" y="4004220"/>
            <a:ext cx="2236291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Permite al usuario redimensionar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969716"/>
            <a:ext cx="10668000" cy="3162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979241"/>
            <a:ext cx="10648950" cy="3524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238875"/>
            <a:ext cx="106680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30957" y="571500"/>
            <a:ext cx="10708994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¿Cómo funciona un JMenuBar en MDI?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00075"/>
            <a:ext cx="326082" cy="419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1535608"/>
            <a:ext cx="10668000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La barra de menús se asigna al contenedor principal mediante setJMenuBar(). Centraliza el control de toda la aplicación. En el proyecto, se agregó un menú específico </a:t>
            </a:r>
            <a:r>
              <a:rPr sz="1650" b="1" i="0" u="none">
                <a:solidFill>
                  <a:srgbClr val="CBD5E1"/>
                </a:solidFill>
                <a:latin typeface="Inter"/>
              </a:rPr>
              <a:t>"Ventana"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para gestionar la disposición visual de los formularios hijos.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429375"/>
            <a:ext cx="31487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134" y="6391275"/>
            <a:ext cx="302865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38300" y="3084016"/>
            <a:ext cx="103733" cy="13335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62025" y="3093541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133475" y="3093541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304925" y="3093541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511623"/>
            <a:ext cx="10668000" cy="36861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521148"/>
            <a:ext cx="10648950" cy="3619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76350" y="571500"/>
            <a:ext cx="10661332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Abrir formularios hijos desde el menú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19125"/>
            <a:ext cx="371475" cy="419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1507926"/>
            <a:ext cx="10668000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Inter"/>
              </a:rPr>
              <a:t>Se aplica un patrón estandarizado: el evento del menú valida si el JInternalFrame ya está visible. Si no, lo agrega al JDesktopPane, lo hace visible y lo centra. Finalmente, se selecciona y se trae al frente.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15675" y="6372225"/>
            <a:ext cx="314325" cy="2476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38300" y="2630685"/>
            <a:ext cx="104775" cy="13335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62025" y="264021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133475" y="264021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304925" y="264021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10668000" cy="4048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38875"/>
            <a:ext cx="10668000" cy="38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0957" y="571500"/>
            <a:ext cx="10708994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App MDI - Ventanas en Cascada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00075"/>
            <a:ext cx="326082" cy="419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429375"/>
            <a:ext cx="31487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27134" y="6391275"/>
            <a:ext cx="302865" cy="228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8926" y="3748087"/>
            <a:ext cx="4134147" cy="17145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E3B1369-2DF9-4396-8FE9-6F39525E12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10943" y="1838325"/>
            <a:ext cx="7570111" cy="3994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47850"/>
            <a:ext cx="10668000" cy="401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3975" y="571500"/>
            <a:ext cx="10611326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Formulario: Catálogo de Clientes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19125"/>
            <a:ext cx="419100" cy="419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675" y="6372225"/>
            <a:ext cx="314325" cy="2476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5287" y="3757612"/>
            <a:ext cx="3781425" cy="1905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1AFA22B-7558-F34B-881F-45F1845D2B6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16283" y="1959524"/>
            <a:ext cx="7226710" cy="37866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47850"/>
            <a:ext cx="10668000" cy="401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3975" y="571500"/>
            <a:ext cx="10611326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Menú Ventana Desplegado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19125"/>
            <a:ext cx="419100" cy="419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675" y="6372225"/>
            <a:ext cx="314325" cy="2476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2937" y="3757612"/>
            <a:ext cx="3286125" cy="1905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0086F14-5A34-9E31-2B58-564C4997CB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8607" y="1915839"/>
            <a:ext cx="7294784" cy="38740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47850"/>
            <a:ext cx="10668000" cy="401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3975" y="571500"/>
            <a:ext cx="10611326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Ventana Interna Maximizada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19125"/>
            <a:ext cx="419100" cy="419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58525" y="6372225"/>
            <a:ext cx="371475" cy="2476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8112" y="3757612"/>
            <a:ext cx="4295775" cy="1905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D5EEC58-5DBB-A12B-D21F-465A568EA1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06918" y="1895475"/>
            <a:ext cx="7378161" cy="38737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47850"/>
            <a:ext cx="10668000" cy="401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3975" y="571500"/>
            <a:ext cx="10611326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Múltiples Ventanas Abiertas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19125"/>
            <a:ext cx="419100" cy="419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6150" y="6372225"/>
            <a:ext cx="323850" cy="2476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2787" y="3757612"/>
            <a:ext cx="5686425" cy="1905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1E37D68-5E53-50FE-FE59-59A81E10BD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59577" y="1943100"/>
            <a:ext cx="7472845" cy="396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1125" y="571500"/>
            <a:ext cx="10551318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Ventajas de la arquitectura MDI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19125"/>
            <a:ext cx="476250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7575" y="6372225"/>
            <a:ext cx="35242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1609725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Un solo menú central: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Simplifica la interfaz al utilizar una única barra de menús que aplica funciones y comandos a todas las ventanas hijas.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2756296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Orden visual: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Todo el flujo de trabajo ocurre dentro de los límites de una sola ventana, evitando saturar la barra de tareas de Windows/OS.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902868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Gestión integrada de ventanas: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Facilita la implementación de acciones masivas como organizar en cascada, mosaico o minimizar/restaurar todo simultáneamente.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5049440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Rendimiento (Ventanas ligeras):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Los componentes JInternalFrame consumen menos recursos, ya que no requieren crear instancias de ventanas nativas a nivel del sistema operativo.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" y="6196012"/>
            <a:ext cx="10334625" cy="66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Contexto compartido: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El usuario puede concentrarse en la tarea principal intercambiando formularios (ej. Clientes y Facturas) sin perder el contexto ni cambiar de ventana del sistema.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657350"/>
            <a:ext cx="2286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803921"/>
            <a:ext cx="228600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950493"/>
            <a:ext cx="228600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097065"/>
            <a:ext cx="228600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243637"/>
            <a:ext cx="2286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19825"/>
            <a:ext cx="10668000" cy="400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3975" y="571500"/>
            <a:ext cx="10611326" cy="514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Dificultades encontradas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19125"/>
            <a:ext cx="419100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415087"/>
            <a:ext cx="32861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7575" y="6372225"/>
            <a:ext cx="35242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1609725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Centrado manual de ventanas: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A diferencia de los JFrames que usan setLocationRelativeTo(null), el centrado de un JInternalFrame debe calcularse matemáticamente según el tamaño del JDesktopPane.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2756296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Pérdida de independencia: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Los formularios hijos dejaron de poder ejecutarse o probarse de manera aislada (al eliminar sus métodos main()), requiriendo siempre del contenedor para visualizarlos.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902868"/>
            <a:ext cx="1033462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Gestión de diálogos (JDialog):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El diálogo de vista previa de impresión recibía rígidamente un JFrame. Hubo que refactorizarlo para aceptar un Component genérico y localizar la ventana principal con SwingUtilities.getWindowAncestor().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5384601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Comunicación entre internos:</a:t>
            </a:r>
            <a:r>
              <a:rPr sz="1650" b="0" i="0" u="none">
                <a:solidFill>
                  <a:srgbClr val="CBD5E1"/>
                </a:solidFill>
                <a:latin typeface="Inter"/>
              </a:rPr>
              <a:t> Para que la "Lista de facturas" pudiera abrir el "Detalle de factura", se requirió inyectar o pasar la referencia del escritorio compartido.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657350"/>
            <a:ext cx="228600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803921"/>
            <a:ext cx="2286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950493"/>
            <a:ext cx="228600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432226"/>
            <a:ext cx="2286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38875"/>
            <a:ext cx="10668000" cy="38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0957" y="571500"/>
            <a:ext cx="10708994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 i="0" u="none">
                <a:solidFill>
                  <a:srgbClr val="F1F5F9"/>
                </a:solidFill>
                <a:latin typeface="Montserrat"/>
              </a:rPr>
              <a:t>Bibliografía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00075"/>
            <a:ext cx="326082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429375"/>
            <a:ext cx="3148756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SemiBold"/>
              </a:rPr>
              <a:t>Investigación: Formulario contenedor (Menú MDI)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3018" y="6391275"/>
            <a:ext cx="376981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1683543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Oracle. How to Use Internal Frames (Java Swing Tutorial)</a:t>
            </a:r>
            <a:r>
              <a:t>
</a:t>
            </a:r>
            <a:r>
              <a:rPr sz="1650" b="0" i="0" u="none">
                <a:solidFill>
                  <a:srgbClr val="38BDF8"/>
                </a:solidFill>
                <a:latin typeface="Inter"/>
              </a:rPr>
              <a:t>https://docs.oracle.com/javase/tutorial/uiswing/components/internalframe.html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2830115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Oracle. How to Use Desktop Panes</a:t>
            </a:r>
            <a:r>
              <a:t>
</a:t>
            </a:r>
            <a:r>
              <a:rPr sz="1650" b="0" i="0" u="none">
                <a:solidFill>
                  <a:srgbClr val="38BDF8"/>
                </a:solidFill>
                <a:latin typeface="Inter"/>
              </a:rPr>
              <a:t>https://docs.oracle.com/javase/tutorial/uiswing/components/desktoppane.html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976687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Oracle. How to Use Menus</a:t>
            </a:r>
            <a:r>
              <a:t>
</a:t>
            </a:r>
            <a:r>
              <a:rPr sz="1650" b="0" i="0" u="none">
                <a:solidFill>
                  <a:srgbClr val="38BDF8"/>
                </a:solidFill>
                <a:latin typeface="Inter"/>
              </a:rPr>
              <a:t>https://docs.oracle.com/javase/tutorial/uiswing/components/menu.html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5123259"/>
            <a:ext cx="10334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Inter"/>
              </a:rPr>
              <a:t>API Java SE: Documentación oficial de JDesktopPane y JInternalFrame</a:t>
            </a:r>
            <a:r>
              <a:t>
</a:t>
            </a:r>
            <a:r>
              <a:rPr sz="1650" b="0" i="0" u="none">
                <a:solidFill>
                  <a:srgbClr val="38BDF8"/>
                </a:solidFill>
                <a:latin typeface="Inter"/>
              </a:rPr>
              <a:t>https://docs.oracle.com/en/java/javase/25/docs/api/java.desktop/javax/swing/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726406"/>
            <a:ext cx="148232" cy="2190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872978"/>
            <a:ext cx="148232" cy="2190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4019550"/>
            <a:ext cx="148232" cy="2190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5166121"/>
            <a:ext cx="148232" cy="2190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963</Words>
  <Application>Microsoft Office PowerPoint</Application>
  <PresentationFormat>Panorámica</PresentationFormat>
  <Paragraphs>61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1" baseType="lpstr">
      <vt:lpstr>Arial</vt:lpstr>
      <vt:lpstr>Calibri</vt:lpstr>
      <vt:lpstr>Inter</vt:lpstr>
      <vt:lpstr>Inter SemiBold</vt:lpstr>
      <vt:lpstr>Montserrat</vt:lpstr>
      <vt:lpstr>Montserrat Medium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Usuario</dc:creator>
  <cp:keywords/>
  <dc:description>generated using python-pptx</dc:description>
  <cp:lastModifiedBy>1712602 - JOSUE DAVID ZETINO BOCH</cp:lastModifiedBy>
  <cp:revision>2</cp:revision>
  <dcterms:created xsi:type="dcterms:W3CDTF">2013-01-27T09:14:16Z</dcterms:created>
  <dcterms:modified xsi:type="dcterms:W3CDTF">2026-08-08T03:27:58Z</dcterms:modified>
  <cp:category/>
</cp:coreProperties>
</file>