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54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3142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zetinob/sistema-venta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zetinob/sistema-venta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371600"/>
            <a:ext cx="4754880" cy="4754880"/>
          </a:xfrm>
          <a:prstGeom prst="ellipse">
            <a:avLst/>
          </a:prstGeom>
          <a:solidFill>
            <a:srgbClr val="44597A">
              <a:alpha val="38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" name="Shape 1"/>
          <p:cNvSpPr/>
          <p:nvPr/>
        </p:nvSpPr>
        <p:spPr>
          <a:xfrm>
            <a:off x="10424160" y="4480560"/>
            <a:ext cx="3108960" cy="3108960"/>
          </a:xfrm>
          <a:prstGeom prst="ellipse">
            <a:avLst/>
          </a:prstGeom>
          <a:solidFill>
            <a:srgbClr val="44597A">
              <a:alpha val="22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3  ·  PROGRAMACIÓN II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8595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del Proyecto</a:t>
            </a:r>
            <a:endParaRPr lang="en-US" sz="42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Base de Datos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31012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Ventas en Java Swing (MVC)  ·  Persistencia con JDBC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Josue Zetino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40740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err="1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</a:t>
            </a:r>
            <a:r>
              <a:rPr lang="en-US" sz="150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</a:t>
            </a:r>
            <a:r>
              <a:rPr lang="en-US" sz="1500" dirty="0" err="1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</a:t>
            </a:r>
            <a:r>
              <a:rPr lang="es-GT" sz="1500" dirty="0" err="1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ón</a:t>
            </a:r>
            <a:r>
              <a:rPr lang="es-GT" sz="150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80974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Fecha:  07 Agosto 2026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5440680"/>
            <a:ext cx="6492240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1051560" y="544068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</a:t>
            </a:r>
            <a:endParaRPr lang="en-US" sz="1300" dirty="0"/>
          </a:p>
        </p:txBody>
      </p:sp>
      <p:sp>
        <p:nvSpPr>
          <p:cNvPr id="12" name="Text 10">
            <a:hlinkClick r:id="rId3"/>
          </p:cNvPr>
          <p:cNvSpPr/>
          <p:nvPr/>
        </p:nvSpPr>
        <p:spPr>
          <a:xfrm>
            <a:off x="2240280" y="544068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https://github.com/jzetinob/sistema-ventas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 la tarea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10789920" cy="1371600"/>
          </a:xfrm>
          <a:prstGeom prst="roundRect">
            <a:avLst>
              <a:gd name="adj" fmla="val 4000"/>
            </a:avLst>
          </a:prstGeom>
          <a:solidFill>
            <a:srgbClr val="13233B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4" name="Text 2"/>
          <p:cNvSpPr/>
          <p:nvPr/>
        </p:nvSpPr>
        <p:spPr>
          <a:xfrm>
            <a:off x="1097280" y="1371600"/>
            <a:ext cx="9966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 el almacenamiento en memoria y archivos CSV por una base de datos relacional usando JDBC, de modo que los registros se guarden de forma permanente.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5800" y="3017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mínimos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3520440"/>
            <a:ext cx="2011680" cy="210312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7" name="Shape 5"/>
          <p:cNvSpPr/>
          <p:nvPr/>
        </p:nvSpPr>
        <p:spPr>
          <a:xfrm>
            <a:off x="905256" y="3739896"/>
            <a:ext cx="384048" cy="384048"/>
          </a:xfrm>
          <a:prstGeom prst="ellipse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8" name="Text 6"/>
          <p:cNvSpPr/>
          <p:nvPr/>
        </p:nvSpPr>
        <p:spPr>
          <a:xfrm>
            <a:off x="905256" y="3739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05256" y="42336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la conexión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05256" y="4727448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el driver JDBC y abrir la conexión desde la aplicación.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16936" y="3520440"/>
            <a:ext cx="2011680" cy="210312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2" name="Shape 10"/>
          <p:cNvSpPr/>
          <p:nvPr/>
        </p:nvSpPr>
        <p:spPr>
          <a:xfrm>
            <a:off x="3136392" y="3739896"/>
            <a:ext cx="384048" cy="384048"/>
          </a:xfrm>
          <a:prstGeom prst="ellipse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3" name="Text 11"/>
          <p:cNvSpPr/>
          <p:nvPr/>
        </p:nvSpPr>
        <p:spPr>
          <a:xfrm>
            <a:off x="3136392" y="3739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36392" y="42336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las tablas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136392" y="4727448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el esquema necesario para clientes, productos y facturas.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48072" y="3520440"/>
            <a:ext cx="2011680" cy="210312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7" name="Shape 15"/>
          <p:cNvSpPr/>
          <p:nvPr/>
        </p:nvSpPr>
        <p:spPr>
          <a:xfrm>
            <a:off x="5367528" y="3739896"/>
            <a:ext cx="384048" cy="384048"/>
          </a:xfrm>
          <a:prstGeom prst="ellipse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8" name="Text 16"/>
          <p:cNvSpPr/>
          <p:nvPr/>
        </p:nvSpPr>
        <p:spPr>
          <a:xfrm>
            <a:off x="5367528" y="3739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67528" y="42336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la persistencia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367528" y="4727448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Sustituir el acceso a CSV por operaciones SQL desde las clases DAO.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79208" y="3520440"/>
            <a:ext cx="2011680" cy="210312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2" name="Shape 20"/>
          <p:cNvSpPr/>
          <p:nvPr/>
        </p:nvSpPr>
        <p:spPr>
          <a:xfrm>
            <a:off x="7598664" y="3739896"/>
            <a:ext cx="384048" cy="384048"/>
          </a:xfrm>
          <a:prstGeom prst="ellipse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3" name="Text 21"/>
          <p:cNvSpPr/>
          <p:nvPr/>
        </p:nvSpPr>
        <p:spPr>
          <a:xfrm>
            <a:off x="7598664" y="3739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598664" y="42336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desde los formularios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598664" y="4727448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lo capturado en las vistas Swing termine en la base de datos.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610344" y="3520440"/>
            <a:ext cx="2011680" cy="210312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7" name="Shape 25"/>
          <p:cNvSpPr/>
          <p:nvPr/>
        </p:nvSpPr>
        <p:spPr>
          <a:xfrm>
            <a:off x="9829800" y="3739896"/>
            <a:ext cx="384048" cy="384048"/>
          </a:xfrm>
          <a:prstGeom prst="ellipse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8" name="Text 26"/>
          <p:cNvSpPr/>
          <p:nvPr/>
        </p:nvSpPr>
        <p:spPr>
          <a:xfrm>
            <a:off x="9829800" y="3739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829800" y="42336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permanencia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829800" y="4727448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y reabrir la aplicación comprobando que los datos siguen ahí.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64190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Base de Datos  ·  Josue Zetino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datos seleccionada: SQLite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1704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relacional ligero que no requiere servidor: la base es un único archivo que la aplicación crea sola.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319272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5" name="Text 3"/>
          <p:cNvSpPr/>
          <p:nvPr/>
        </p:nvSpPr>
        <p:spPr>
          <a:xfrm>
            <a:off x="960120" y="2057400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servidor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450592"/>
            <a:ext cx="2770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que instalar ni administrar un motor aparte; todo corre dentro de la aplicación.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25112" y="1828800"/>
            <a:ext cx="3319272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8" name="Text 6"/>
          <p:cNvSpPr/>
          <p:nvPr/>
        </p:nvSpPr>
        <p:spPr>
          <a:xfrm>
            <a:off x="4599432" y="2057400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archivo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99432" y="2450592"/>
            <a:ext cx="2770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vive en datos/sistema_ventas.db y se crea automáticamente al arrancar.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64424" y="1828800"/>
            <a:ext cx="3319272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8238744" y="2057400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estándar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38744" y="2450592"/>
            <a:ext cx="2770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Soporta llaves primarias, llaves foráneas, restricciones UNIQUE y transacciones.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703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 JDBC agregado como dependencia Maven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" y="4114800"/>
            <a:ext cx="10789920" cy="1874520"/>
          </a:xfrm>
          <a:prstGeom prst="roundRect">
            <a:avLst>
              <a:gd name="adj" fmla="val 2439"/>
            </a:avLst>
          </a:prstGeom>
          <a:solidFill>
            <a:srgbClr val="0E1B2E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5" name="Text 13"/>
          <p:cNvSpPr/>
          <p:nvPr/>
        </p:nvSpPr>
        <p:spPr>
          <a:xfrm>
            <a:off x="1005840" y="4224528"/>
            <a:ext cx="10149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9F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&lt;dependency&gt;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9F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&lt;groupId&gt;org.xerial&lt;/groupId&gt;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9F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&lt;artifactId&gt;sqlite-jdbc&lt;/artifactId&gt;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9F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&lt;version&gt;3.47.1.0&lt;/version&gt;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9F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&lt;/dependency&gt;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2920" y="64190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Base de Datos  ·  Josue Zetino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Tablas creadas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1704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arrancar, la aplicación ejecuta CREATE TABLE IF NOT EXISTS y genera las cuatro tablas del sistema.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2615184" cy="269748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2615184" cy="566928"/>
          </a:xfrm>
          <a:prstGeom prst="roundRect">
            <a:avLst>
              <a:gd name="adj" fmla="val 8065"/>
            </a:avLst>
          </a:prstGeom>
          <a:solidFill>
            <a:srgbClr val="13233B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905256" y="1783080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514600"/>
            <a:ext cx="21122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— PK autoincremental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 — TEXT único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66160" y="1783080"/>
            <a:ext cx="2615184" cy="269748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9" name="Shape 7"/>
          <p:cNvSpPr/>
          <p:nvPr/>
        </p:nvSpPr>
        <p:spPr>
          <a:xfrm>
            <a:off x="3566160" y="1783080"/>
            <a:ext cx="2615184" cy="566928"/>
          </a:xfrm>
          <a:prstGeom prst="roundRect">
            <a:avLst>
              <a:gd name="adj" fmla="val 8065"/>
            </a:avLst>
          </a:prstGeom>
          <a:solidFill>
            <a:srgbClr val="13233B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0" name="Text 8"/>
          <p:cNvSpPr/>
          <p:nvPr/>
        </p:nvSpPr>
        <p:spPr>
          <a:xfrm>
            <a:off x="3785616" y="1783080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0" y="2514600"/>
            <a:ext cx="21122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— PK autoincremental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 — TEXT único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2615184" cy="269748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3" name="Shape 11"/>
          <p:cNvSpPr/>
          <p:nvPr/>
        </p:nvSpPr>
        <p:spPr>
          <a:xfrm>
            <a:off x="6446520" y="1783080"/>
            <a:ext cx="2615184" cy="566928"/>
          </a:xfrm>
          <a:prstGeom prst="roundRect">
            <a:avLst>
              <a:gd name="adj" fmla="val 8065"/>
            </a:avLst>
          </a:prstGeom>
          <a:solidFill>
            <a:srgbClr val="13233B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4" name="Text 12"/>
          <p:cNvSpPr/>
          <p:nvPr/>
        </p:nvSpPr>
        <p:spPr>
          <a:xfrm>
            <a:off x="6665976" y="1783080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facturas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20840" y="2514600"/>
            <a:ext cx="21122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— PK autoincremental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numero_factura — único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  ·  cliente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326880" y="1783080"/>
            <a:ext cx="2615184" cy="269748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7" name="Shape 15"/>
          <p:cNvSpPr/>
          <p:nvPr/>
        </p:nvSpPr>
        <p:spPr>
          <a:xfrm>
            <a:off x="9326880" y="1783080"/>
            <a:ext cx="2615184" cy="566928"/>
          </a:xfrm>
          <a:prstGeom prst="roundRect">
            <a:avLst>
              <a:gd name="adj" fmla="val 8065"/>
            </a:avLst>
          </a:prstGeom>
          <a:solidFill>
            <a:srgbClr val="13233B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8" name="Text 16"/>
          <p:cNvSpPr/>
          <p:nvPr/>
        </p:nvSpPr>
        <p:spPr>
          <a:xfrm>
            <a:off x="9546336" y="1783080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factura_detalles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0" y="2514600"/>
            <a:ext cx="21122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— PK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factura_id — FK → facturas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DELETE CASCADE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 ·  cantidad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 ·  subtotal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" y="4892040"/>
            <a:ext cx="10789920" cy="868680"/>
          </a:xfrm>
          <a:prstGeom prst="roundRect">
            <a:avLst>
              <a:gd name="adj" fmla="val 6316"/>
            </a:avLst>
          </a:prstGeom>
          <a:solidFill>
            <a:srgbClr val="E4EAF3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1" name="Text 19"/>
          <p:cNvSpPr/>
          <p:nvPr/>
        </p:nvSpPr>
        <p:spPr>
          <a:xfrm>
            <a:off x="1005840" y="4892040"/>
            <a:ext cx="10195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 referencial:  </a:t>
            </a:r>
            <a:r>
              <a:rPr lang="en-US" sz="13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factura_detalles apunta a facturas mediante una llave foránea con ON DELETE CASCADE, de modo que al borrar una factura desaparecen también sus líneas de detalle.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02920" y="64190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Base de Datos  ·  Josue Zetino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realizó la conexión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1704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clase ConexionBD aplica el patrón singleton: carga el driver y abre la conexión una sola vez.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6766560" cy="1965960"/>
          </a:xfrm>
          <a:prstGeom prst="roundRect">
            <a:avLst>
              <a:gd name="adj" fmla="val 2326"/>
            </a:avLst>
          </a:prstGeom>
          <a:solidFill>
            <a:srgbClr val="0E1B2E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" name="Text 3"/>
          <p:cNvSpPr/>
          <p:nvPr/>
        </p:nvSpPr>
        <p:spPr>
          <a:xfrm>
            <a:off x="960120" y="1901952"/>
            <a:ext cx="6309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Class.forName("org.sqlite.JDBC");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 conexion = DriverManager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.getConnection(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"jdbc:sqlite:datos/sistema_ventas.db");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818120" y="1783080"/>
            <a:ext cx="36576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8FA0B8">
                <a:alpha val="2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7" name="Text 5"/>
          <p:cNvSpPr/>
          <p:nvPr/>
        </p:nvSpPr>
        <p:spPr>
          <a:xfrm>
            <a:off x="8046720" y="18379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0" y="20756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única instancia de conexión para toda la aplicación.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818120" y="2532888"/>
            <a:ext cx="36576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8FA0B8">
                <a:alpha val="2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0" name="Text 8"/>
          <p:cNvSpPr/>
          <p:nvPr/>
        </p:nvSpPr>
        <p:spPr>
          <a:xfrm>
            <a:off x="8046720" y="25877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abre al iniciar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0" y="28254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establece una vez y se reutiliza en cada operación.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818120" y="3282696"/>
            <a:ext cx="36576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8FA0B8">
                <a:alpha val="2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3" name="Text 11"/>
          <p:cNvSpPr/>
          <p:nvPr/>
        </p:nvSpPr>
        <p:spPr>
          <a:xfrm>
            <a:off x="8046720" y="33375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relativa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46720" y="35753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archivo .db se guarda en la carpeta datos/.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5800" y="42245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una operación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5800" y="4709160"/>
            <a:ext cx="1975104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8FA0B8">
                <a:alpha val="2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7" name="Text 15"/>
          <p:cNvSpPr/>
          <p:nvPr/>
        </p:nvSpPr>
        <p:spPr>
          <a:xfrm>
            <a:off x="813816" y="4709160"/>
            <a:ext cx="17190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Swing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70048" y="5029200"/>
            <a:ext cx="210312" cy="201168"/>
          </a:xfrm>
          <a:prstGeom prst="rightArrow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9" name="Shape 17"/>
          <p:cNvSpPr/>
          <p:nvPr/>
        </p:nvSpPr>
        <p:spPr>
          <a:xfrm>
            <a:off x="2889504" y="4709160"/>
            <a:ext cx="1975104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8FA0B8">
                <a:alpha val="2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0" name="Text 18"/>
          <p:cNvSpPr/>
          <p:nvPr/>
        </p:nvSpPr>
        <p:spPr>
          <a:xfrm>
            <a:off x="3017520" y="4709160"/>
            <a:ext cx="17190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73752" y="5029200"/>
            <a:ext cx="210312" cy="201168"/>
          </a:xfrm>
          <a:prstGeom prst="rightArrow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2" name="Shape 20"/>
          <p:cNvSpPr/>
          <p:nvPr/>
        </p:nvSpPr>
        <p:spPr>
          <a:xfrm>
            <a:off x="5093208" y="4709160"/>
            <a:ext cx="1975104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8FA0B8">
                <a:alpha val="2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3" name="Text 21"/>
          <p:cNvSpPr/>
          <p:nvPr/>
        </p:nvSpPr>
        <p:spPr>
          <a:xfrm>
            <a:off x="5221224" y="4709160"/>
            <a:ext cx="17190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SQLite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077456" y="5029200"/>
            <a:ext cx="210312" cy="201168"/>
          </a:xfrm>
          <a:prstGeom prst="rightArrow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5" name="Shape 23"/>
          <p:cNvSpPr/>
          <p:nvPr/>
        </p:nvSpPr>
        <p:spPr>
          <a:xfrm>
            <a:off x="7296912" y="4709160"/>
            <a:ext cx="1975104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8FA0B8">
                <a:alpha val="2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6" name="Text 24"/>
          <p:cNvSpPr/>
          <p:nvPr/>
        </p:nvSpPr>
        <p:spPr>
          <a:xfrm>
            <a:off x="7424928" y="4709160"/>
            <a:ext cx="17190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PreparedStatement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281160" y="5029200"/>
            <a:ext cx="210312" cy="201168"/>
          </a:xfrm>
          <a:prstGeom prst="rightArrow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8" name="Shape 26"/>
          <p:cNvSpPr/>
          <p:nvPr/>
        </p:nvSpPr>
        <p:spPr>
          <a:xfrm>
            <a:off x="9500616" y="4709160"/>
            <a:ext cx="1975104" cy="841248"/>
          </a:xfrm>
          <a:prstGeom prst="roundRect">
            <a:avLst>
              <a:gd name="adj" fmla="val 5435"/>
            </a:avLst>
          </a:prstGeom>
          <a:solidFill>
            <a:srgbClr val="13233B"/>
          </a:solidFill>
          <a:ln/>
          <a:effectLst>
            <a:outerShdw blurRad="88900" dist="25400" dir="5400000" algn="bl" rotWithShape="0">
              <a:srgbClr val="8FA0B8">
                <a:alpha val="2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9" name="Text 27"/>
          <p:cNvSpPr/>
          <p:nvPr/>
        </p:nvSpPr>
        <p:spPr>
          <a:xfrm>
            <a:off x="9628632" y="4709160"/>
            <a:ext cx="17190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sistema_ventas.db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64190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Base de Datos  ·  Josue Zetino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Clases agregadas para la persistencia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3319272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4" name="Text 2"/>
          <p:cNvSpPr/>
          <p:nvPr/>
        </p:nvSpPr>
        <p:spPr>
          <a:xfrm>
            <a:off x="960120" y="1627632"/>
            <a:ext cx="2770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3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ConexionBD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60120" y="2560320"/>
            <a:ext cx="27706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 la conexión y crea las tablas al arrancar la aplicación.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325112" y="1371600"/>
            <a:ext cx="3319272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7" name="Text 5"/>
          <p:cNvSpPr/>
          <p:nvPr/>
        </p:nvSpPr>
        <p:spPr>
          <a:xfrm>
            <a:off x="4599432" y="1627632"/>
            <a:ext cx="2770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3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ClienteDAOSQLite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3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ProductoDAOSQLite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3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FacturaDAOSQLite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99432" y="2560320"/>
            <a:ext cx="27706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Implementan el CRUD con PreparedStatement, lo que protege contra inyección SQL, y recuperan el id generado con RETURN_GENERATED_KEYS.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964424" y="1371600"/>
            <a:ext cx="3319272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0" name="Text 8"/>
          <p:cNvSpPr/>
          <p:nvPr/>
        </p:nvSpPr>
        <p:spPr>
          <a:xfrm>
            <a:off x="8238744" y="1627632"/>
            <a:ext cx="2770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3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MigradorDatos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38744" y="2560320"/>
            <a:ext cx="27706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Traslada a la base de datos los registros que existían en los CSV de versiones anteriores. Solo se ejecuta la primera vez.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58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cambio de una sola línea por controlador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85800" y="43159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nuevas clases implementan las mismas interfaces DAO que usaba la versión con CSV, así que las vistas y los controladores no se tocaron.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85800" y="4800600"/>
            <a:ext cx="10789920" cy="1143000"/>
          </a:xfrm>
          <a:prstGeom prst="roundRect">
            <a:avLst>
              <a:gd name="adj" fmla="val 4000"/>
            </a:avLst>
          </a:prstGeom>
          <a:solidFill>
            <a:srgbClr val="0E1B2E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5" name="Text 13"/>
          <p:cNvSpPr/>
          <p:nvPr/>
        </p:nvSpPr>
        <p:spPr>
          <a:xfrm>
            <a:off x="1005840" y="4800600"/>
            <a:ext cx="1014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9F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dao = FacturaDAOSQLite.getInstancia();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7C9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antes:  dao = FacturaDAOCsv.getInstancia();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64190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Base de Datos  ·  Josue Zetino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Detalles de implementación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10789920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4" name="Shape 2"/>
          <p:cNvSpPr/>
          <p:nvPr/>
        </p:nvSpPr>
        <p:spPr>
          <a:xfrm>
            <a:off x="978408" y="1709928"/>
            <a:ext cx="384048" cy="384048"/>
          </a:xfrm>
          <a:prstGeom prst="ellipse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" name="Text 3"/>
          <p:cNvSpPr/>
          <p:nvPr/>
        </p:nvSpPr>
        <p:spPr>
          <a:xfrm>
            <a:off x="978408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54480" y="163677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2020824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factura y sus detalles se guardan dentro de una transacción con setAutoCommit(false) más commit o rollback: o se guarda completa, o no se guarda nada.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80960" y="1856232"/>
            <a:ext cx="3520440" cy="621792"/>
          </a:xfrm>
          <a:prstGeom prst="roundRect">
            <a:avLst>
              <a:gd name="adj" fmla="val 7353"/>
            </a:avLst>
          </a:prstGeom>
          <a:solidFill>
            <a:srgbClr val="0E1B2E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9" name="Text 7"/>
          <p:cNvSpPr/>
          <p:nvPr/>
        </p:nvSpPr>
        <p:spPr>
          <a:xfrm>
            <a:off x="7818120" y="1856232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setAutoCommit(false) → commit / rollback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3154680"/>
            <a:ext cx="10789920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1" name="Shape 9"/>
          <p:cNvSpPr/>
          <p:nvPr/>
        </p:nvSpPr>
        <p:spPr>
          <a:xfrm>
            <a:off x="978408" y="3447288"/>
            <a:ext cx="384048" cy="384048"/>
          </a:xfrm>
          <a:prstGeom prst="ellipse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2" name="Text 10"/>
          <p:cNvSpPr/>
          <p:nvPr/>
        </p:nvSpPr>
        <p:spPr>
          <a:xfrm>
            <a:off x="978408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337413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Correlativo desde la BD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3758184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siguiente número de factura (FAC-0001, FAC-0002…) se calcula con MAX sobre la tabla facturas, sin depender de un contador externo en archivo.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80960" y="3593592"/>
            <a:ext cx="3520440" cy="621792"/>
          </a:xfrm>
          <a:prstGeom prst="roundRect">
            <a:avLst>
              <a:gd name="adj" fmla="val 7353"/>
            </a:avLst>
          </a:prstGeom>
          <a:solidFill>
            <a:srgbClr val="0E1B2E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6" name="Text 14"/>
          <p:cNvSpPr/>
          <p:nvPr/>
        </p:nvSpPr>
        <p:spPr>
          <a:xfrm>
            <a:off x="7818120" y="3593592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MAX(numero_factura) FROM facturas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4892040"/>
            <a:ext cx="10789920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8" name="Shape 16"/>
          <p:cNvSpPr/>
          <p:nvPr/>
        </p:nvSpPr>
        <p:spPr>
          <a:xfrm>
            <a:off x="978408" y="5184648"/>
            <a:ext cx="384048" cy="384048"/>
          </a:xfrm>
          <a:prstGeom prst="ellipse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9" name="Text 17"/>
          <p:cNvSpPr/>
          <p:nvPr/>
        </p:nvSpPr>
        <p:spPr>
          <a:xfrm>
            <a:off x="978408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511149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 en cascada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54480" y="5495544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eliminar una factura, la llave foránea con CASCADE borra automáticamente todas sus líneas de detalle asociadas.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680960" y="5330952"/>
            <a:ext cx="3520440" cy="621792"/>
          </a:xfrm>
          <a:prstGeom prst="roundRect">
            <a:avLst>
              <a:gd name="adj" fmla="val 7353"/>
            </a:avLst>
          </a:prstGeom>
          <a:solidFill>
            <a:srgbClr val="0E1B2E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3" name="Text 21"/>
          <p:cNvSpPr/>
          <p:nvPr/>
        </p:nvSpPr>
        <p:spPr>
          <a:xfrm>
            <a:off x="7818120" y="5330952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FOREIGN KEY … ON DELETE CASCADE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64190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Base de Datos  ·  Josue Zetino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91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funcionando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088136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facturación, facturas registradas y los catálogos de productos y clientes leyendo desde la base de datos.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549908" y="1508760"/>
            <a:ext cx="9089136" cy="4879405"/>
          </a:xfrm>
          <a:prstGeom prst="roundRect">
            <a:avLst>
              <a:gd name="adj" fmla="val 375"/>
            </a:avLst>
          </a:prstGeom>
          <a:solidFill>
            <a:srgbClr val="FFFFFF"/>
          </a:solidFill>
          <a:ln/>
          <a:effectLst>
            <a:outerShdw blurRad="177800" dist="38100" dir="5400000" algn="bl" rotWithShape="0">
              <a:srgbClr val="6B7A90">
                <a:alpha val="3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pic>
        <p:nvPicPr>
          <p:cNvPr id="6" name="Image 0" descr="/mnt/user-data/uploads/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916" y="1572768"/>
            <a:ext cx="8961120" cy="475138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91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datos con registros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088136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Browser for SQLite mostrando el esquema de las cuatro tablas dentro de sistema_ventas.db.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549908" y="1508760"/>
            <a:ext cx="9089136" cy="4879405"/>
          </a:xfrm>
          <a:prstGeom prst="roundRect">
            <a:avLst>
              <a:gd name="adj" fmla="val 375"/>
            </a:avLst>
          </a:prstGeom>
          <a:solidFill>
            <a:srgbClr val="FFFFFF"/>
          </a:solidFill>
          <a:ln/>
          <a:effectLst>
            <a:outerShdw blurRad="177800" dist="38100" dir="5400000" algn="bl" rotWithShape="0">
              <a:srgbClr val="6B7A90">
                <a:alpha val="3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pic>
        <p:nvPicPr>
          <p:cNvPr id="6" name="Image 0" descr="/mnt/user-data/uploads/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916" y="1572768"/>
            <a:ext cx="8961120" cy="475138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Verificación de persistencia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1704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realizada para comprobar que los datos sobreviven al cierre de la aplicación.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2615184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5" name="Shape 3"/>
          <p:cNvSpPr/>
          <p:nvPr/>
        </p:nvSpPr>
        <p:spPr>
          <a:xfrm>
            <a:off x="941832" y="2084832"/>
            <a:ext cx="384048" cy="384048"/>
          </a:xfrm>
          <a:prstGeom prst="ellipse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941832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41832" y="259689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registraron datos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41832" y="30175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guardaron facturas, productos y clientes desde los formularios de la aplicación.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19272" y="2834640"/>
            <a:ext cx="228600" cy="219456"/>
          </a:xfrm>
          <a:prstGeom prst="rightArrow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0" name="Shape 8"/>
          <p:cNvSpPr/>
          <p:nvPr/>
        </p:nvSpPr>
        <p:spPr>
          <a:xfrm>
            <a:off x="3566160" y="1828800"/>
            <a:ext cx="2615184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1" name="Shape 9"/>
          <p:cNvSpPr/>
          <p:nvPr/>
        </p:nvSpPr>
        <p:spPr>
          <a:xfrm>
            <a:off x="3822192" y="2084832"/>
            <a:ext cx="384048" cy="384048"/>
          </a:xfrm>
          <a:prstGeom prst="ellipse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2" name="Text 10"/>
          <p:cNvSpPr/>
          <p:nvPr/>
        </p:nvSpPr>
        <p:spPr>
          <a:xfrm>
            <a:off x="3822192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22192" y="259689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cerró el programa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22192" y="30175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 se cerró por completo, liberando la conexión a la base de datos.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99632" y="2834640"/>
            <a:ext cx="228600" cy="219456"/>
          </a:xfrm>
          <a:prstGeom prst="rightArrow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6" name="Shape 14"/>
          <p:cNvSpPr/>
          <p:nvPr/>
        </p:nvSpPr>
        <p:spPr>
          <a:xfrm>
            <a:off x="6446520" y="1828800"/>
            <a:ext cx="2615184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7" name="Shape 15"/>
          <p:cNvSpPr/>
          <p:nvPr/>
        </p:nvSpPr>
        <p:spPr>
          <a:xfrm>
            <a:off x="6702552" y="2084832"/>
            <a:ext cx="384048" cy="384048"/>
          </a:xfrm>
          <a:prstGeom prst="ellipse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8" name="Text 16"/>
          <p:cNvSpPr/>
          <p:nvPr/>
        </p:nvSpPr>
        <p:spPr>
          <a:xfrm>
            <a:off x="6702552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02552" y="259689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volvió a abrir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02552" y="30175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reiniciar, los registros seguían intactos y la numeración de facturas continuó donde iba.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079992" y="2834640"/>
            <a:ext cx="228600" cy="219456"/>
          </a:xfrm>
          <a:prstGeom prst="rightArrow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2" name="Shape 20"/>
          <p:cNvSpPr/>
          <p:nvPr/>
        </p:nvSpPr>
        <p:spPr>
          <a:xfrm>
            <a:off x="9326880" y="1828800"/>
            <a:ext cx="2615184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3" name="Shape 21"/>
          <p:cNvSpPr/>
          <p:nvPr/>
        </p:nvSpPr>
        <p:spPr>
          <a:xfrm>
            <a:off x="9582912" y="2084832"/>
            <a:ext cx="384048" cy="384048"/>
          </a:xfrm>
          <a:prstGeom prst="ellipse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4" name="Text 22"/>
          <p:cNvSpPr/>
          <p:nvPr/>
        </p:nvSpPr>
        <p:spPr>
          <a:xfrm>
            <a:off x="9582912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582912" y="259689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revisó la base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582912" y="30175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DB Browser for SQLite se confirmó que las cuatro tablas contienen los registros almacenados.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5800" y="4526280"/>
            <a:ext cx="10789920" cy="1005840"/>
          </a:xfrm>
          <a:prstGeom prst="roundRect">
            <a:avLst>
              <a:gd name="adj" fmla="val 5455"/>
            </a:avLst>
          </a:prstGeom>
          <a:solidFill>
            <a:srgbClr val="13233B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8" name="Text 26"/>
          <p:cNvSpPr/>
          <p:nvPr/>
        </p:nvSpPr>
        <p:spPr>
          <a:xfrm>
            <a:off x="1051560" y="45262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la información dejó de perderse al cerrar el programa. La base de datos conserva clientes, productos, facturas y sus detalles entre sesiones.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02920" y="64190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Base de Datos  ·  Josue Zetino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023360"/>
            <a:ext cx="4023360" cy="4023360"/>
          </a:xfrm>
          <a:prstGeom prst="ellipse">
            <a:avLst/>
          </a:prstGeom>
          <a:solidFill>
            <a:srgbClr val="44597A">
              <a:alpha val="30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515600" cy="1170432"/>
          </a:xfrm>
          <a:prstGeom prst="roundRect">
            <a:avLst>
              <a:gd name="adj" fmla="val 3906"/>
            </a:avLst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" name="Shape 3"/>
          <p:cNvSpPr/>
          <p:nvPr/>
        </p:nvSpPr>
        <p:spPr>
          <a:xfrm>
            <a:off x="1143000" y="1856232"/>
            <a:ext cx="384048" cy="384048"/>
          </a:xfrm>
          <a:prstGeom prst="ellipse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114300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37360" y="17830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DAO probó su valor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37360" y="216712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1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toda la persistencia no obligó a modificar las vistas ni los controladores: bastó una línea por controlador.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008376"/>
            <a:ext cx="10515600" cy="1170432"/>
          </a:xfrm>
          <a:prstGeom prst="roundRect">
            <a:avLst>
              <a:gd name="adj" fmla="val 3906"/>
            </a:avLst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0" name="Shape 8"/>
          <p:cNvSpPr/>
          <p:nvPr/>
        </p:nvSpPr>
        <p:spPr>
          <a:xfrm>
            <a:off x="1143000" y="3264408"/>
            <a:ext cx="384048" cy="384048"/>
          </a:xfrm>
          <a:prstGeom prst="ellipse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114300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37360" y="3191256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garantiza permanencia e integridad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37360" y="3575304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1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Unicidad de NIT, código y número de factura, más llaves foráneas que mantienen la coherencia entre facturas y detalles.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416552"/>
            <a:ext cx="10515600" cy="1170432"/>
          </a:xfrm>
          <a:prstGeom prst="roundRect">
            <a:avLst>
              <a:gd name="adj" fmla="val 3906"/>
            </a:avLst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5" name="Shape 13"/>
          <p:cNvSpPr/>
          <p:nvPr/>
        </p:nvSpPr>
        <p:spPr>
          <a:xfrm>
            <a:off x="1143000" y="4672584"/>
            <a:ext cx="384048" cy="384048"/>
          </a:xfrm>
          <a:prstGeom prst="ellipse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6" name="Text 14"/>
          <p:cNvSpPr/>
          <p:nvPr/>
        </p:nvSpPr>
        <p:spPr>
          <a:xfrm>
            <a:off x="1143000" y="4672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37360" y="459943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transacciones evitan datos a medias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37360" y="498348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1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factura nunca queda guardada sin sus líneas de detalle: o entra completa, o se revierte.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5669280"/>
            <a:ext cx="6949440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0" name="Text 18"/>
          <p:cNvSpPr/>
          <p:nvPr/>
        </p:nvSpPr>
        <p:spPr>
          <a:xfrm>
            <a:off x="1097280" y="566928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público</a:t>
            </a:r>
            <a:endParaRPr lang="en-US" sz="1250" dirty="0"/>
          </a:p>
        </p:txBody>
      </p:sp>
      <p:sp>
        <p:nvSpPr>
          <p:cNvPr id="21" name="Text 19">
            <a:hlinkClick r:id="rId3"/>
          </p:cNvPr>
          <p:cNvSpPr/>
          <p:nvPr/>
        </p:nvSpPr>
        <p:spPr>
          <a:xfrm>
            <a:off x="2834640" y="5669280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https://github.com/jzetinob/sistema-ventas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1083</Words>
  <Application>Microsoft Office PowerPoint</Application>
  <PresentationFormat>Panorámica</PresentationFormat>
  <Paragraphs>172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Integración del Proyecto con Base de Datos</dc:title>
  <dc:subject>PptxGenJS Presentation</dc:subject>
  <dc:creator>Josue Zetino</dc:creator>
  <cp:lastModifiedBy>1712602 - JOSUE DAVID ZETINO BOCH</cp:lastModifiedBy>
  <cp:revision>4</cp:revision>
  <dcterms:created xsi:type="dcterms:W3CDTF">2026-08-08T04:10:48Z</dcterms:created>
  <dcterms:modified xsi:type="dcterms:W3CDTF">2026-08-08T04:21:28Z</dcterms:modified>
</cp:coreProperties>
</file>